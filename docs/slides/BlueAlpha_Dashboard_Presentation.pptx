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91440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csb_seal_gol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508760" cy="1005840"/>
          </a:xfrm>
          <a:prstGeom prst="rect">
            <a:avLst/>
          </a:prstGeom>
        </p:spPr>
      </p:pic>
      <p:pic>
        <p:nvPicPr>
          <p:cNvPr id="5" name="Picture 4" descr="bluealpha_ma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0292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EBC11"/>
                </a:solidFill>
                <a:latin typeface="Calibri"/>
              </a:rPr>
              <a:t>BLUEALPHA  ·  CAPSTONE I  ·  PROGRESS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9728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Prior Sensitivity in Bayesian MMM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A robustness workflow and prototype dashboard built around Google Meridian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EBC11"/>
                </a:solidFill>
                <a:latin typeface="Calibri"/>
              </a:rPr>
              <a:t>UCSB PSTAT 197  ×  BlueAlpha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Aidan Frazier · Quinlan Wilson · Jimmy Wu · Jasper Luo · Coraline Zhu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Motivation and 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Bayesian MMM outputs are only as credible as the priors beneath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Calibri"/>
              </a:rPr>
              <a:t>Priors are assumed, not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Channel ROI priors (μ, σ, distribution family) come from analyst judgment. Small prior shifts can cascade into large posterior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Calibri"/>
              </a:rPr>
              <a:t>Single runs hide uncertainty.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 one-shot Meridian fit gives a point estimate. Stakeholders rarely see how much that estimate would move under reasonable alternative priors.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0B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137160" cy="1737360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EBC11"/>
                </a:solidFill>
                <a:latin typeface="Calibri"/>
              </a:rPr>
              <a:t>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How sensitive are Bayesian MMM conclusions to reasonable changes in ROI priors, and how can we communicate that uncertainty to decision-makers?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OUR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METHODOLOGICAL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We do not propose a new MMM estimator. We run the existing Meridian model many times over a structured grid of prior settings, summarize how much the inferred ROI changes, and surface that variation for analyst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2F5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Calibri"/>
              </a:rPr>
              <a:t>Grid perturbation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2194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μ, σ, and distribution family swept across a structured grid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06324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03320" y="3383280"/>
            <a:ext cx="502920" cy="502920"/>
          </a:xfrm>
          <a:prstGeom prst="ellipse">
            <a:avLst/>
          </a:prstGeom>
          <a:solidFill>
            <a:srgbClr val="2F5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383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02336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Calibri"/>
              </a:rPr>
              <a:t>Parallel Meridian 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663440"/>
            <a:ext cx="2194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every grid point refits the full Bayesian model with QC tagging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6324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3383280"/>
            <a:ext cx="502920" cy="502920"/>
          </a:xfrm>
          <a:prstGeom prst="ellipse">
            <a:avLst/>
          </a:prstGeom>
          <a:solidFill>
            <a:srgbClr val="2F5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383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Calibri"/>
              </a:rPr>
              <a:t>Sensitivity summaries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63440"/>
            <a:ext cx="2194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ROI %-change, $-swing, tornado rankings, stability flags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063240"/>
            <a:ext cx="27432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4040" y="3383280"/>
            <a:ext cx="502920" cy="502920"/>
          </a:xfrm>
          <a:prstGeom prst="ellipse">
            <a:avLst/>
          </a:prstGeom>
          <a:solidFill>
            <a:srgbClr val="2F5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33832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02336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B1E3F"/>
                </a:solidFill>
                <a:latin typeface="Calibri"/>
              </a:rPr>
              <a:t>Prototype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663440"/>
            <a:ext cx="219456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interactive HTML to support analyst review and discussion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292608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332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6ECF8"/>
                </a:solidFill>
                <a:latin typeface="Calibri"/>
              </a:rPr>
              <a:t>monthly spend
+ KPI (subs)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9736" y="292608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9736" y="306324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Grid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370332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6ECF8"/>
                </a:solidFill>
                <a:latin typeface="Calibri"/>
              </a:rPr>
              <a:t>μ × σ × dist
YAML driven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92608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306324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Meridian
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370332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6ECF8"/>
                </a:solidFill>
                <a:latin typeface="Calibri"/>
              </a:rPr>
              <a:t>parallel runs
per grid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92608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306324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QC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370332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6ECF8"/>
                </a:solidFill>
                <a:latin typeface="Calibri"/>
              </a:rPr>
              <a:t>PASS / REVIEW
/ FAIL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92608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306324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Sensitivity
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70332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6ECF8"/>
                </a:solidFill>
                <a:latin typeface="Calibri"/>
              </a:rPr>
              <a:t>tornado &amp;
%-change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2926080"/>
            <a:ext cx="1417320" cy="1417320"/>
          </a:xfrm>
          <a:prstGeom prst="roundRect">
            <a:avLst>
              <a:gd name="adj" fmla="val 5000"/>
            </a:avLst>
          </a:prstGeom>
          <a:solidFill>
            <a:srgbClr val="FEBC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306324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0B1E3F"/>
                </a:solidFill>
                <a:latin typeface="Calibri"/>
              </a:rPr>
              <a:t>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3703320"/>
            <a:ext cx="14173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0B1E3F"/>
                </a:solidFill>
                <a:latin typeface="Calibri"/>
              </a:rPr>
              <a:t>prototype
HTML + JSON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65960.0" y="3634740.0"/>
            <a:ext cx="493776.0" cy="0.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77056.0" y="3634740.0"/>
            <a:ext cx="493776.0" cy="0.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88152.0" y="3634740.0"/>
            <a:ext cx="493776.0" cy="0.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99248.0" y="3634740.0"/>
            <a:ext cx="493776.0" cy="0.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10344.0" y="3634740.0"/>
            <a:ext cx="493776.0" cy="0.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Calibri"/>
              </a:rPr>
              <a:t>Implemented as a sequence of Python modules; each stage writes versioned outputs the next stage reads.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240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onsolas"/>
              </a:rPr>
              <a:t>src/pipeline.py  →  src/main.py  →  src/run_meridian_once.py  →  src/summarize_sensitivity.py  →  src/reporting/make_dashboard.py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46320"/>
            <a:ext cx="36118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10912"/>
            <a:ext cx="3154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5DC6"/>
                </a:solidFill>
                <a:latin typeface="Consolas"/>
              </a:rPr>
              <a:t>data/output/01_runs/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Raw per-channel fits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846320"/>
            <a:ext cx="36118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5010912"/>
            <a:ext cx="3154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5DC6"/>
                </a:solidFill>
                <a:latin typeface="Consolas"/>
              </a:rPr>
              <a:t>data/output/02_tables/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44068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Merged sensitivity tables + tornado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846320"/>
            <a:ext cx="36118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5010912"/>
            <a:ext cx="31546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F5DC6"/>
                </a:solidFill>
                <a:latin typeface="Consolas"/>
              </a:rPr>
              <a:t>data/output/03_reports/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440680"/>
            <a:ext cx="3154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Prototype dashboard HTML + payload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WHERE THE WORKFLOW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Prototype Dashboard —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Five panels, one HTML file, designed to support analyst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We will look at two in detail; the others are mentioned here as supporting pieces.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0972800" cy="74980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468880"/>
            <a:ext cx="475488" cy="475488"/>
          </a:xfrm>
          <a:prstGeom prst="ellipse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EBC11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7744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Calibri"/>
              </a:rPr>
              <a:t>Decision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97480"/>
            <a:ext cx="9875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Preliminary robustness tier, model health summary, top sensitivity metric.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5146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2F5DC6"/>
                </a:solidFill>
                <a:latin typeface="Calibri"/>
              </a:rPr>
              <a:t>DETAIL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10972800" cy="74980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291840"/>
            <a:ext cx="475488" cy="475488"/>
          </a:xfrm>
          <a:prstGeom prst="ellipse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91840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EBC11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0040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Calibri"/>
              </a:rPr>
              <a:t>Workbench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20440"/>
            <a:ext cx="9875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Channel scenario studio: analysts move μ/σ and watch ROI move with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33756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2F5DC6"/>
                </a:solidFill>
                <a:latin typeface="Calibri"/>
              </a:rPr>
              <a:t>DETAIL 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77640"/>
            <a:ext cx="10972800" cy="749808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114800"/>
            <a:ext cx="475488" cy="475488"/>
          </a:xfrm>
          <a:prstGeom prst="ellipse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EBC11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023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Calibri"/>
              </a:rPr>
              <a:t>Tornado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343400"/>
            <a:ext cx="9875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Channels ranked by %-ROI swing across the grid.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160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000" b="1">
                <a:solidFill>
                  <a:srgbClr val="2F5DC6"/>
                </a:solidFill>
                <a:latin typeface="Calibri"/>
              </a:rPr>
              <a:t>DETAIL 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00600"/>
            <a:ext cx="109728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4937760"/>
            <a:ext cx="475488" cy="475488"/>
          </a:xfrm>
          <a:prstGeom prst="ellipse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37760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EBC11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84632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Calibri"/>
              </a:rPr>
              <a:t>Allocation 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166360"/>
            <a:ext cx="9875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Spend vs. estimated contribution, useful for spotting misalignment.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623560"/>
            <a:ext cx="1097280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5760720"/>
            <a:ext cx="475488" cy="475488"/>
          </a:xfrm>
          <a:prstGeom prst="ellipse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FEBC11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66928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B1E3F"/>
                </a:solidFill>
                <a:latin typeface="Calibri"/>
              </a:rPr>
              <a:t>Supporting Panels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989320"/>
            <a:ext cx="98755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Meridian's standard plots, heatmaps, scenario drills — embedded inline.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DASHBOARD DETAIL ·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Decision Card — Summary of Current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554480"/>
            <a:ext cx="6675120" cy="4663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5943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PRELIMINARY ROBUSTNESS TIER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2768" y="2286000"/>
            <a:ext cx="502920" cy="5029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31136" y="2286000"/>
            <a:ext cx="502920" cy="5029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3931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alibri"/>
              </a:rPr>
              <a:t>GREEN tier — on this run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3063240"/>
            <a:ext cx="594360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337560"/>
            <a:ext cx="128016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alibri"/>
              </a:rPr>
              <a:t>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3337560"/>
            <a:ext cx="128016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34747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TOP Δ 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79476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+34%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337560"/>
            <a:ext cx="128016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4747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SENSITIVE 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79476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meta × 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3337560"/>
            <a:ext cx="1280160" cy="1188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34747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QC PASS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794760"/>
            <a:ext cx="12801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17 / 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754880"/>
            <a:ext cx="5943600" cy="128016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864608"/>
            <a:ext cx="5577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F5DC6"/>
                </a:solidFill>
                <a:latin typeface="Calibri"/>
              </a:rPr>
              <a:t>SUGGESTED FOLLOW-UPS (auto-generated)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1663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Zoom the μ grid on meta; widen σ on google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Re-fit with LogNormal to cross-check tail behavior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Flag meta for analyst review before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•  Preliminary tier</a:t>
            </a:r>
            <a:r>
              <a:rPr sz="1300" b="0">
                <a:solidFill>
                  <a:srgbClr val="1F2937"/>
                </a:solidFill>
                <a:latin typeface="Calibri"/>
              </a:rPr>
              <a:t> derived from QC pass rate, sensitivity spread, and guardrail hits. Thresholds are still being calibrated.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•  Health card</a:t>
            </a:r>
            <a:r>
              <a:rPr sz="1300" b="0">
                <a:solidFill>
                  <a:srgbClr val="1F2937"/>
                </a:solidFill>
                <a:latin typeface="Calibri"/>
              </a:rPr>
              <a:t> mirrors Meridian's model diagnostics summary (convergence, saturation).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•  Top metric + pair</a:t>
            </a:r>
            <a:r>
              <a:rPr sz="1300" b="0">
                <a:solidFill>
                  <a:srgbClr val="1F2937"/>
                </a:solidFill>
                <a:latin typeface="Calibri"/>
              </a:rPr>
              <a:t> answers "what moved and why" in one line so analysts can start there.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•  Follow-ups</a:t>
            </a:r>
            <a:r>
              <a:rPr sz="1300" b="0">
                <a:solidFill>
                  <a:srgbClr val="1F2937"/>
                </a:solidFill>
                <a:latin typeface="Calibri"/>
              </a:rPr>
              <a:t> suggested by recommend_next_grid.py; intended as starting points for analyst review, not verdicts.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DASHBOARD DETAIL ·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Exploring Sensitivity — Workbench &amp; Tornado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554480"/>
            <a:ext cx="57607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WORKBENCH — CHANNEL = META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267712"/>
            <a:ext cx="4846320" cy="9144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54196" y="2157984"/>
            <a:ext cx="274320" cy="274320"/>
          </a:xfrm>
          <a:prstGeom prst="ellipse">
            <a:avLst/>
          </a:prstGeom>
          <a:solidFill>
            <a:srgbClr val="2F5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Calibri"/>
              </a:rPr>
              <a:t>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2770632"/>
            <a:ext cx="4846320" cy="9144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4932" y="2660904"/>
            <a:ext cx="274320" cy="274320"/>
          </a:xfrm>
          <a:prstGeom prst="ellipse">
            <a:avLst/>
          </a:prstGeom>
          <a:solidFill>
            <a:srgbClr val="2F5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3200400"/>
            <a:ext cx="1539240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73552"/>
            <a:ext cx="1539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Calibri"/>
              </a:rPr>
              <a:t>SELECTED 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93008"/>
            <a:ext cx="1539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B1E3F"/>
                </a:solidFill>
                <a:latin typeface="Calibri"/>
              </a:rPr>
              <a:t>2.14x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90800" y="3200400"/>
            <a:ext cx="1539240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0800" y="3273552"/>
            <a:ext cx="1539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Calibri"/>
              </a:rPr>
              <a:t>Δ VS.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0800" y="3493008"/>
            <a:ext cx="1539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+18%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7200" y="3200400"/>
            <a:ext cx="1539240" cy="8686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7200" y="3273552"/>
            <a:ext cx="1539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64748B"/>
                </a:solidFill>
                <a:latin typeface="Calibri"/>
              </a:rPr>
              <a:t>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7200" y="3493008"/>
            <a:ext cx="15392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>
                <a:solidFill>
                  <a:srgbClr val="0B1E3F"/>
                </a:solidFill>
                <a:latin typeface="Calibri"/>
              </a:rPr>
              <a:t>11.4%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Analyst drags μ/σ; ROI recomputes from the pre-fit grid (no re-run needed).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5212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ROI distribution across σ (μ fixed)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97280" y="5577840"/>
            <a:ext cx="484632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280160" y="4960620"/>
            <a:ext cx="320040" cy="41148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440180.0" y="4777740.0"/>
            <a:ext cx="0.0" cy="777240.0"/>
          </a:xfrm>
          <a:prstGeom prst="line">
            <a:avLst/>
          </a:prstGeom>
          <a:ln w="15240">
            <a:solidFill>
              <a:srgbClr val="0B1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176272" y="4914900"/>
            <a:ext cx="320040" cy="50292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2336292.0" y="4732020.0"/>
            <a:ext cx="0.0" cy="868680.0"/>
          </a:xfrm>
          <a:prstGeom prst="line">
            <a:avLst/>
          </a:prstGeom>
          <a:ln w="15240">
            <a:solidFill>
              <a:srgbClr val="0B1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072384" y="4869180"/>
            <a:ext cx="320040" cy="59436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232404.0" y="4686300.0"/>
            <a:ext cx="0.0" cy="960120.0"/>
          </a:xfrm>
          <a:prstGeom prst="line">
            <a:avLst/>
          </a:prstGeom>
          <a:ln w="15240">
            <a:solidFill>
              <a:srgbClr val="0B1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968496" y="4960620"/>
            <a:ext cx="320040" cy="41148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28516.0" y="4777740.0"/>
            <a:ext cx="0.0" cy="777240.0"/>
          </a:xfrm>
          <a:prstGeom prst="line">
            <a:avLst/>
          </a:prstGeom>
          <a:ln w="15240">
            <a:solidFill>
              <a:srgbClr val="0B1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864608" y="4914900"/>
            <a:ext cx="320040" cy="502920"/>
          </a:xfrm>
          <a:prstGeom prst="roundRect">
            <a:avLst>
              <a:gd name="adj" fmla="val 5000"/>
            </a:avLst>
          </a:prstGeom>
          <a:solidFill>
            <a:srgbClr val="2F5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024628.0" y="4732020.0"/>
            <a:ext cx="0.0" cy="868680.0"/>
          </a:xfrm>
          <a:prstGeom prst="line">
            <a:avLst/>
          </a:prstGeom>
          <a:ln w="15240">
            <a:solidFill>
              <a:srgbClr val="0B1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channel_sensitivity_tornado_dollar_value_p05p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5486400" cy="382670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92240" y="55778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Tornado — channels ranked by %-ROI swing across the prior grid (p05–p95).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Workbench builds intuition at the channel level · Tornado gives the portfolio-level rank.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MENTIONED BRIEFLY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Supporting Pieces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These round out the dashboard but are not the focus of today's talk.</a:t>
            </a:r>
          </a:p>
        </p:txBody>
      </p:sp>
      <p:pic>
        <p:nvPicPr>
          <p:cNvPr id="8" name="Picture 7" descr="prior_sensitiv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5029200" cy="35642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715000"/>
            <a:ext cx="5029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μ × σ heatmap — posterior ROI surface for a focal channel.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•  Allocation view</a:t>
            </a:r>
            <a:r>
              <a:rPr sz="1300" b="0">
                <a:solidFill>
                  <a:srgbClr val="1F2937"/>
                </a:solidFill>
                <a:latin typeface="Calibri"/>
              </a:rPr>
              <a:t> spend vs. estimated contribution, sized by ROI. Useful for spotting mis-allocation.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•  Meridian official charts</a:t>
            </a:r>
            <a:r>
              <a:rPr sz="1300" b="0">
                <a:solidFill>
                  <a:srgbClr val="1F2937"/>
                </a:solidFill>
                <a:latin typeface="Calibri"/>
              </a:rPr>
              <a:t> embedded inline: ROI by channel, spend vs. contribution, ROI vs. mROI, contribution waterfall, and two more. Analysts see the plots they already know.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•  Scenario snapshots</a:t>
            </a:r>
            <a:r>
              <a:rPr sz="1300" b="0">
                <a:solidFill>
                  <a:srgbClr val="1F2937"/>
                </a:solidFill>
                <a:latin typeface="Calibri"/>
              </a:rPr>
              <a:t> grid of top prior combinations, selected by largest absolute %-change.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•  Structural &amp; guardrails</a:t>
            </a:r>
            <a:r>
              <a:rPr sz="1300" b="0">
                <a:solidFill>
                  <a:srgbClr val="1F2937"/>
                </a:solidFill>
                <a:latin typeface="Calibri"/>
              </a:rPr>
              <a:t> adstock / saturation curves, prior guardrail checks on P(ROI &lt; 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WHERE WE ARE STILL VALIDATING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What Remains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The workflow runs end-to-end, but several methodological choices are not yet settled.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86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E3F"/>
                </a:solidFill>
                <a:latin typeface="Calibri"/>
              </a:rPr>
              <a:t>Are the sensitivity thresholds well calibrated?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060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The cutoffs that drive the robustness tier (GREEN / YELLOW / RED) are hand-set. We have not yet shown they generalize beyond the current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72968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355848"/>
            <a:ext cx="502920" cy="502920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5584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264408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E3F"/>
                </a:solidFill>
                <a:latin typeface="Calibri"/>
              </a:rPr>
              <a:t>Is the tier verdict stable across datasets?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84448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We have run the pipeline on a single client dataset with 73 months and 8 channels. Stability needs to be tested on additional, ideally larger, datasets.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51376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4334256"/>
            <a:ext cx="502920" cy="502920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34256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242816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E3F"/>
                </a:solidFill>
                <a:latin typeface="Calibri"/>
              </a:rPr>
              <a:t>Which metrics are actually interpretable for stakeholders?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62856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We surface %-change, $-swing, marginal μ/σ effects, and guardrail checks. It is unclear which of these move analyst decisions and which are just noise on the screen.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29784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312664"/>
            <a:ext cx="502920" cy="502920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12664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0B1E3F"/>
                </a:solidFill>
                <a:latin typeface="Calibri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21224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E3F"/>
                </a:solidFill>
                <a:latin typeface="Calibri"/>
              </a:rPr>
              <a:t>Are μ/σ perturbations the right unit of sensitivity?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541264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The grid perturbs each channel independently. Cross-channel and distribution-family effects are only partially captured.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737360"/>
            <a:ext cx="370332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703320" cy="91440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E3F"/>
                </a:solidFill>
                <a:latin typeface="Calibri"/>
              </a:rPr>
              <a:t>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Google Meridian (Bayesian MMM)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TensorFlow · TF Probability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QC gates &amp; prior guardrail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70332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703320" cy="91440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E3F"/>
                </a:solidFill>
                <a:latin typeface="Calibri"/>
              </a:rPr>
              <a:t>Data &amp; 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2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Python 3.11 · pandas · numpy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YAML-driven grid configs (PyYAML)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Parallel subprocess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70332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703320" cy="91440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11680"/>
            <a:ext cx="3246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B1E3F"/>
                </a:solidFill>
                <a:latin typeface="Calibri"/>
              </a:rPr>
              <a:t>Reporting &amp;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60320"/>
            <a:ext cx="3246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Jinja2 server-side rendering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ECharts (interactive charts)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matplotlib (static figures)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F5DC6"/>
                </a:solidFill>
                <a:latin typeface="Calibri"/>
              </a:rPr>
              <a:t>REPOSITORY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F"/>
                </a:solidFill>
                <a:latin typeface="Calibri"/>
              </a:rPr>
              <a:t>Where Things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914400" cy="54864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luealpha_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32004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B1E3F"/>
                </a:solidFill>
                <a:latin typeface="Consolas"/>
              </a:rPr>
              <a:t>BlueAlpha/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  config/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sensitivity_*.yaml              ← grid definitions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  data/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raw/                            ← monthly_mocha.csv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output/01_runs/   02_tables/   03_reports/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  src/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pipeline.py                     ← one-command entrypoint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main.py  run_meridian_once.py   ← grid + fits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summarize_sensitivity.py        ← merge + tornado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recommend_next_grid.py          ← suggested follow-ups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robustness_score.py             ← composite scoring (WIP)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    reporting/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  make_dashboard.py             ← orchestrator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  metrics.py  figures.py  render.py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onsolas"/>
              </a:rPr>
              <a:t>      templates/dashboard_template.html + dashboard.css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  docs/      theory · slides · interim reports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  scripts/   open_demo.ps1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BlueAlpha × UCSB  ·  Capstone I — Work in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" cy="73152"/>
          </a:xfrm>
          <a:prstGeom prst="rect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EBC11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Where we go from here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59152"/>
            <a:ext cx="201168" cy="201168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Calibrate thresholds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back the GREEN / YELLOW / RED cutoffs with evidence rather than defaults.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17520"/>
            <a:ext cx="201168" cy="201168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5292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Test on additional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run the workflow on at least one more client dataset to check stability.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675888"/>
            <a:ext cx="201168" cy="201168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11296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Cross-channel perturbation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extend the grid to linked prior shifts and measure spillover effects.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334256"/>
            <a:ext cx="201168" cy="201168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9664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Robustness scoring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9884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composite score combining QC pass rate, sensitivity spread, guardrail hits.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992624"/>
            <a:ext cx="201168" cy="201168"/>
          </a:xfrm>
          <a:prstGeom prst="ellipse">
            <a:avLst/>
          </a:prstGeom>
          <a:solidFill>
            <a:srgbClr val="FEBC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2803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Usability study with analysts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57216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observe how analysts actually use the dashboard to identify which panels matter.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806440"/>
            <a:ext cx="11064240" cy="0"/>
          </a:xfrm>
          <a:prstGeom prst="line">
            <a:avLst/>
          </a:prstGeom>
          <a:ln w="19050">
            <a:solidFill>
              <a:srgbClr val="FEBC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EBC11"/>
                </a:solidFill>
                <a:latin typeface="Calibri"/>
              </a:rPr>
              <a:t>Thank you — questions and feedback welcome.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onsolas"/>
              </a:rPr>
              <a:t>Local demo: scripts/open_demo.ps1  ·  Dashboard: data/output/03_reports/report/google_meta_tiktok/dashboard.html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